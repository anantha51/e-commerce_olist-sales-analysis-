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C267F-9FCD-646E-02A6-283D3766FA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31990B-B42B-9503-F165-25E939658C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72EDF6-8151-E158-70D1-A21BB579A9BA}"/>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5" name="Footer Placeholder 4">
            <a:extLst>
              <a:ext uri="{FF2B5EF4-FFF2-40B4-BE49-F238E27FC236}">
                <a16:creationId xmlns:a16="http://schemas.microsoft.com/office/drawing/2014/main" id="{C6D33F06-AF61-953F-47D9-836B71937F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65AB3B-44D3-EF61-407C-8B04E4C499B6}"/>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1042325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C53D6-ACB4-6FC1-B9BB-EB43F4ED07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E83174-E33E-FA06-D86B-17BB3059FC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EEF1D1-69A1-8B82-6038-C2B02E614ED6}"/>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5" name="Footer Placeholder 4">
            <a:extLst>
              <a:ext uri="{FF2B5EF4-FFF2-40B4-BE49-F238E27FC236}">
                <a16:creationId xmlns:a16="http://schemas.microsoft.com/office/drawing/2014/main" id="{8F0F8B28-DB90-1044-7217-33115B0063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A8B4D4-1B3D-03CE-0BA3-410C10827EE8}"/>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4055899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04629-6DE3-F202-815E-DCF7494896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9A375C-7C79-3421-60D0-B103BAD7C0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5B88EA-8454-C3F7-02CD-68855B884A84}"/>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5" name="Footer Placeholder 4">
            <a:extLst>
              <a:ext uri="{FF2B5EF4-FFF2-40B4-BE49-F238E27FC236}">
                <a16:creationId xmlns:a16="http://schemas.microsoft.com/office/drawing/2014/main" id="{D882C728-40A1-C4E4-D5AB-31B46AF7A6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B0A21B-438C-7B32-3C9A-65A43504D933}"/>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3933019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0297-CE20-FA46-3809-E3F228DDF7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26AF8F-3252-FF36-63D1-00EBE4DCA4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2F8020-2E4B-C725-1A28-B176002415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E32F93-6DA4-5EF8-98B6-6FA7484E4927}"/>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6" name="Footer Placeholder 5">
            <a:extLst>
              <a:ext uri="{FF2B5EF4-FFF2-40B4-BE49-F238E27FC236}">
                <a16:creationId xmlns:a16="http://schemas.microsoft.com/office/drawing/2014/main" id="{0A39C17B-81F0-2F80-333B-027A2D9D6B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37368B-6404-F1E2-3FFB-0AE8E4A04972}"/>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1513022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BE86A-0449-D731-3530-F437042FC6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04D602-20A9-91A8-A12F-DB3D6D13FB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ED1E32-67F5-339F-A895-9A28B42E97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BAFCB7F-F712-7196-8827-ECE8F05343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8F426-6DF6-F66C-A0BB-68A4EF32C9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48C659-6765-9DB2-A26B-C1AB76A73A35}"/>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8" name="Footer Placeholder 7">
            <a:extLst>
              <a:ext uri="{FF2B5EF4-FFF2-40B4-BE49-F238E27FC236}">
                <a16:creationId xmlns:a16="http://schemas.microsoft.com/office/drawing/2014/main" id="{A6A51667-0C3A-39A8-19F2-F6973ED245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6F055F-1562-F80B-561B-4971E6F42E2B}"/>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571168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A53DA-39E0-A53E-1E6A-B4D4BDF58B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03424B3-9DEB-67CA-068D-15A5E3B632A3}"/>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4" name="Footer Placeholder 3">
            <a:extLst>
              <a:ext uri="{FF2B5EF4-FFF2-40B4-BE49-F238E27FC236}">
                <a16:creationId xmlns:a16="http://schemas.microsoft.com/office/drawing/2014/main" id="{656AF178-415E-09AE-D467-72B9767BBF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9135757-65FA-5F05-4E52-82CDA5ED85A0}"/>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3461594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83D0EC-7FDA-EB59-11F6-03E7D293181B}"/>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3" name="Footer Placeholder 2">
            <a:extLst>
              <a:ext uri="{FF2B5EF4-FFF2-40B4-BE49-F238E27FC236}">
                <a16:creationId xmlns:a16="http://schemas.microsoft.com/office/drawing/2014/main" id="{FA274427-3BB6-8454-E87A-B21A3D2528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9F8D473-B275-BD08-55DE-0C62A03A9CBB}"/>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2405976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E9CB6-9A7D-9B5E-8BB0-E618625D57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52B86A-65E4-8F32-758F-C1FCC66CB5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9103276-1484-DF89-81F8-65D47B0139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CC6F5-DDBA-951B-7430-63678FB81527}"/>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6" name="Footer Placeholder 5">
            <a:extLst>
              <a:ext uri="{FF2B5EF4-FFF2-40B4-BE49-F238E27FC236}">
                <a16:creationId xmlns:a16="http://schemas.microsoft.com/office/drawing/2014/main" id="{32C365D4-8C14-F7BF-DD59-FE3D63BCFC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9B52D4-4B38-A8BA-918F-65A5EE19F69E}"/>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2973944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89009-9B52-5CB4-C55B-3EAB2E047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F82AEA-8258-66C4-A546-57B17D09A2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109398D-5FD4-96AA-5FD3-DEC56834AA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ACAE5E-1E49-AA6E-808F-05DB7FA8E701}"/>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6" name="Footer Placeholder 5">
            <a:extLst>
              <a:ext uri="{FF2B5EF4-FFF2-40B4-BE49-F238E27FC236}">
                <a16:creationId xmlns:a16="http://schemas.microsoft.com/office/drawing/2014/main" id="{D7FB4FF7-15F3-451D-6730-34FE112EF4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19657-32C1-090F-A6D8-0680AAAA6DA3}"/>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1476421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783EF-708E-58AA-6F65-7E4E415023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17CDFA-709F-0F14-EC30-E42F31842B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5CD2AD-A5D8-034B-B25A-61C71417BE74}"/>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5" name="Footer Placeholder 4">
            <a:extLst>
              <a:ext uri="{FF2B5EF4-FFF2-40B4-BE49-F238E27FC236}">
                <a16:creationId xmlns:a16="http://schemas.microsoft.com/office/drawing/2014/main" id="{AB56E4AD-2FA2-109C-42FE-D6630BA587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770C38-2BFE-B630-F1A1-8E2055E021B3}"/>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1783365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06C7C8-3985-2E40-B300-03ED78329E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60A3C3-C0AE-74D6-CE36-F91540918D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0A4A7E-9BFF-324F-4F30-2CCF3D88F708}"/>
              </a:ext>
            </a:extLst>
          </p:cNvPr>
          <p:cNvSpPr>
            <a:spLocks noGrp="1"/>
          </p:cNvSpPr>
          <p:nvPr>
            <p:ph type="dt" sz="half" idx="10"/>
          </p:nvPr>
        </p:nvSpPr>
        <p:spPr/>
        <p:txBody>
          <a:bodyPr/>
          <a:lstStyle/>
          <a:p>
            <a:fld id="{A235EF81-ED5A-4772-9F9B-B1A2A20D0EBE}" type="datetimeFigureOut">
              <a:rPr lang="en-IN" smtClean="0"/>
              <a:t>05-10-2025</a:t>
            </a:fld>
            <a:endParaRPr lang="en-IN"/>
          </a:p>
        </p:txBody>
      </p:sp>
      <p:sp>
        <p:nvSpPr>
          <p:cNvPr id="5" name="Footer Placeholder 4">
            <a:extLst>
              <a:ext uri="{FF2B5EF4-FFF2-40B4-BE49-F238E27FC236}">
                <a16:creationId xmlns:a16="http://schemas.microsoft.com/office/drawing/2014/main" id="{F22DB5E2-2C02-A0AF-86E6-8F1AC07076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09DC27-9CF1-20FC-7973-62022037A5AD}"/>
              </a:ext>
            </a:extLst>
          </p:cNvPr>
          <p:cNvSpPr>
            <a:spLocks noGrp="1"/>
          </p:cNvSpPr>
          <p:nvPr>
            <p:ph type="sldNum" sz="quarter" idx="12"/>
          </p:nvPr>
        </p:nvSpPr>
        <p:spPr/>
        <p:txBody>
          <a:bodyPr/>
          <a:lstStyle/>
          <a:p>
            <a:fld id="{6B93687D-9F15-4864-B0F9-C7E048D531AD}" type="slidenum">
              <a:rPr lang="en-IN" smtClean="0"/>
              <a:t>‹#›</a:t>
            </a:fld>
            <a:endParaRPr lang="en-IN"/>
          </a:p>
        </p:txBody>
      </p:sp>
    </p:spTree>
    <p:extLst>
      <p:ext uri="{BB962C8B-B14F-4D97-AF65-F5344CB8AC3E}">
        <p14:creationId xmlns:p14="http://schemas.microsoft.com/office/powerpoint/2010/main" val="3642770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7F5455-28C1-9A5A-F6E0-6496DECF46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8A20D6-3BE4-843A-BFDB-79F034D176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4DF646-CF25-9FDE-916E-5915758B9F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35EF81-ED5A-4772-9F9B-B1A2A20D0EBE}" type="datetimeFigureOut">
              <a:rPr lang="en-IN" smtClean="0"/>
              <a:t>05-10-2025</a:t>
            </a:fld>
            <a:endParaRPr lang="en-IN"/>
          </a:p>
        </p:txBody>
      </p:sp>
      <p:sp>
        <p:nvSpPr>
          <p:cNvPr id="5" name="Footer Placeholder 4">
            <a:extLst>
              <a:ext uri="{FF2B5EF4-FFF2-40B4-BE49-F238E27FC236}">
                <a16:creationId xmlns:a16="http://schemas.microsoft.com/office/drawing/2014/main" id="{3C3E02B3-AA5A-2437-16D3-F117F2664C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8C73414-6761-FDB1-9C55-F47D62221D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93687D-9F15-4864-B0F9-C7E048D531AD}" type="slidenum">
              <a:rPr lang="en-IN" smtClean="0"/>
              <a:t>‹#›</a:t>
            </a:fld>
            <a:endParaRPr lang="en-IN"/>
          </a:p>
        </p:txBody>
      </p:sp>
    </p:spTree>
    <p:extLst>
      <p:ext uri="{BB962C8B-B14F-4D97-AF65-F5344CB8AC3E}">
        <p14:creationId xmlns:p14="http://schemas.microsoft.com/office/powerpoint/2010/main" val="3540275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F30685-CDB9-A4FF-F4E8-24AC8E4DBD58}"/>
              </a:ext>
            </a:extLst>
          </p:cNvPr>
          <p:cNvSpPr txBox="1"/>
          <p:nvPr/>
        </p:nvSpPr>
        <p:spPr>
          <a:xfrm>
            <a:off x="3434080" y="1131692"/>
            <a:ext cx="8839200" cy="707886"/>
          </a:xfrm>
          <a:prstGeom prst="rect">
            <a:avLst/>
          </a:prstGeom>
          <a:noFill/>
        </p:spPr>
        <p:txBody>
          <a:bodyPr wrap="square" rtlCol="0">
            <a:spAutoFit/>
          </a:bodyPr>
          <a:lstStyle/>
          <a:p>
            <a:r>
              <a:rPr lang="en-IN" sz="4000" b="1" dirty="0">
                <a:latin typeface="Algerian" panose="04020705040A02060702" pitchFamily="82" charset="0"/>
              </a:rPr>
              <a:t>E-commerce Analysis</a:t>
            </a:r>
          </a:p>
        </p:txBody>
      </p:sp>
      <p:sp>
        <p:nvSpPr>
          <p:cNvPr id="6" name="TextBox 5">
            <a:extLst>
              <a:ext uri="{FF2B5EF4-FFF2-40B4-BE49-F238E27FC236}">
                <a16:creationId xmlns:a16="http://schemas.microsoft.com/office/drawing/2014/main" id="{A236F969-8F6B-CDD7-4263-9EF187E30C0B}"/>
              </a:ext>
            </a:extLst>
          </p:cNvPr>
          <p:cNvSpPr txBox="1"/>
          <p:nvPr/>
        </p:nvSpPr>
        <p:spPr>
          <a:xfrm>
            <a:off x="2079850" y="281530"/>
            <a:ext cx="6341807" cy="707886"/>
          </a:xfrm>
          <a:prstGeom prst="rect">
            <a:avLst/>
          </a:prstGeom>
          <a:noFill/>
        </p:spPr>
        <p:txBody>
          <a:bodyPr wrap="square" rtlCol="0">
            <a:spAutoFit/>
          </a:bodyPr>
          <a:lstStyle/>
          <a:p>
            <a:r>
              <a:rPr lang="en-IN" sz="4000" b="1" dirty="0">
                <a:latin typeface="Algerian" panose="04020705040A02060702" pitchFamily="82" charset="0"/>
              </a:rPr>
              <a:t>Presentation On </a:t>
            </a:r>
          </a:p>
        </p:txBody>
      </p:sp>
      <p:sp>
        <p:nvSpPr>
          <p:cNvPr id="7" name="TextBox 6">
            <a:extLst>
              <a:ext uri="{FF2B5EF4-FFF2-40B4-BE49-F238E27FC236}">
                <a16:creationId xmlns:a16="http://schemas.microsoft.com/office/drawing/2014/main" id="{5556AB44-0071-F0D1-7720-D42BA08577DE}"/>
              </a:ext>
            </a:extLst>
          </p:cNvPr>
          <p:cNvSpPr txBox="1"/>
          <p:nvPr/>
        </p:nvSpPr>
        <p:spPr>
          <a:xfrm>
            <a:off x="6709533" y="2290588"/>
            <a:ext cx="6735097" cy="3293209"/>
          </a:xfrm>
          <a:prstGeom prst="rect">
            <a:avLst/>
          </a:prstGeom>
          <a:noFill/>
        </p:spPr>
        <p:txBody>
          <a:bodyPr wrap="square" rtlCol="0">
            <a:spAutoFit/>
          </a:bodyPr>
          <a:lstStyle/>
          <a:p>
            <a:r>
              <a:rPr lang="en-IN" sz="4000" b="1" dirty="0">
                <a:latin typeface="Algerian" panose="04020705040A02060702" pitchFamily="82" charset="0"/>
              </a:rPr>
              <a:t>By-Group -3</a:t>
            </a:r>
          </a:p>
          <a:p>
            <a:pPr marL="457200" indent="-457200">
              <a:buFont typeface="Wingdings" panose="05000000000000000000" pitchFamily="2" charset="2"/>
              <a:buChar char="Ø"/>
            </a:pPr>
            <a:r>
              <a:rPr lang="en-IN" sz="2800" b="1" dirty="0">
                <a:latin typeface="Bell MT" panose="02020503060305020303" pitchFamily="18" charset="0"/>
              </a:rPr>
              <a:t>Ramadugu  AnanthaLakshmi</a:t>
            </a:r>
          </a:p>
          <a:p>
            <a:pPr marL="457200" indent="-457200">
              <a:buFont typeface="Wingdings" panose="05000000000000000000" pitchFamily="2" charset="2"/>
              <a:buChar char="Ø"/>
            </a:pPr>
            <a:r>
              <a:rPr lang="en-IN" sz="2800" b="1" dirty="0">
                <a:latin typeface="Bell MT" panose="02020503060305020303" pitchFamily="18" charset="0"/>
              </a:rPr>
              <a:t>Reshma Gouda</a:t>
            </a:r>
          </a:p>
          <a:p>
            <a:pPr marL="457200" indent="-457200">
              <a:buFont typeface="Wingdings" panose="05000000000000000000" pitchFamily="2" charset="2"/>
              <a:buChar char="Ø"/>
            </a:pPr>
            <a:r>
              <a:rPr lang="en-IN" sz="2800" b="1" dirty="0">
                <a:latin typeface="Bell MT" panose="02020503060305020303" pitchFamily="18" charset="0"/>
              </a:rPr>
              <a:t>Vaishnavi Deshmukh</a:t>
            </a:r>
          </a:p>
          <a:p>
            <a:pPr marL="457200" indent="-457200">
              <a:buFont typeface="Wingdings" panose="05000000000000000000" pitchFamily="2" charset="2"/>
              <a:buChar char="Ø"/>
            </a:pPr>
            <a:r>
              <a:rPr lang="en-IN" sz="2800" b="1" dirty="0">
                <a:latin typeface="Bell MT" panose="02020503060305020303" pitchFamily="18" charset="0"/>
              </a:rPr>
              <a:t>Deepak kumar</a:t>
            </a:r>
          </a:p>
          <a:p>
            <a:pPr marL="457200" indent="-457200">
              <a:buFont typeface="Wingdings" panose="05000000000000000000" pitchFamily="2" charset="2"/>
              <a:buChar char="Ø"/>
            </a:pPr>
            <a:r>
              <a:rPr lang="en-IN" sz="2800" b="1" dirty="0">
                <a:latin typeface="Bell MT" panose="02020503060305020303" pitchFamily="18" charset="0"/>
              </a:rPr>
              <a:t>Tamal Singha Roy</a:t>
            </a:r>
          </a:p>
          <a:p>
            <a:pPr marL="457200" indent="-457200">
              <a:buFont typeface="Wingdings" panose="05000000000000000000" pitchFamily="2" charset="2"/>
              <a:buChar char="Ø"/>
            </a:pPr>
            <a:r>
              <a:rPr lang="en-IN" sz="2800" b="1" dirty="0">
                <a:latin typeface="Bell MT" panose="02020503060305020303" pitchFamily="18" charset="0"/>
              </a:rPr>
              <a:t>B Rishikesh</a:t>
            </a:r>
          </a:p>
        </p:txBody>
      </p:sp>
      <p:cxnSp>
        <p:nvCxnSpPr>
          <p:cNvPr id="9" name="Straight Connector 8">
            <a:extLst>
              <a:ext uri="{FF2B5EF4-FFF2-40B4-BE49-F238E27FC236}">
                <a16:creationId xmlns:a16="http://schemas.microsoft.com/office/drawing/2014/main" id="{619268C2-09F5-58C8-88E9-C060E8E62204}"/>
              </a:ext>
            </a:extLst>
          </p:cNvPr>
          <p:cNvCxnSpPr>
            <a:cxnSpLocks/>
          </p:cNvCxnSpPr>
          <p:nvPr/>
        </p:nvCxnSpPr>
        <p:spPr>
          <a:xfrm>
            <a:off x="2245360" y="944880"/>
            <a:ext cx="4287520" cy="0"/>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C420482C-3F8B-3EA7-7A58-FE84BBAC71DC}"/>
              </a:ext>
            </a:extLst>
          </p:cNvPr>
          <p:cNvCxnSpPr>
            <a:cxnSpLocks/>
          </p:cNvCxnSpPr>
          <p:nvPr/>
        </p:nvCxnSpPr>
        <p:spPr>
          <a:xfrm>
            <a:off x="3576320" y="1798320"/>
            <a:ext cx="5567680" cy="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91EE2DE5-3761-C6DF-F705-2588C7757820}"/>
              </a:ext>
            </a:extLst>
          </p:cNvPr>
          <p:cNvCxnSpPr>
            <a:cxnSpLocks/>
          </p:cNvCxnSpPr>
          <p:nvPr/>
        </p:nvCxnSpPr>
        <p:spPr>
          <a:xfrm>
            <a:off x="6786880" y="2895600"/>
            <a:ext cx="303784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86992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3735EB-DBF6-31B7-0B6B-32DF9F4FCDD4}"/>
              </a:ext>
            </a:extLst>
          </p:cNvPr>
          <p:cNvSpPr txBox="1"/>
          <p:nvPr/>
        </p:nvSpPr>
        <p:spPr>
          <a:xfrm>
            <a:off x="5425440" y="81280"/>
            <a:ext cx="5394960" cy="707886"/>
          </a:xfrm>
          <a:prstGeom prst="rect">
            <a:avLst/>
          </a:prstGeom>
          <a:noFill/>
        </p:spPr>
        <p:txBody>
          <a:bodyPr wrap="square" rtlCol="0">
            <a:spAutoFit/>
          </a:bodyPr>
          <a:lstStyle/>
          <a:p>
            <a:r>
              <a:rPr lang="en-IN" sz="4000" b="1" dirty="0">
                <a:solidFill>
                  <a:srgbClr val="7030A0"/>
                </a:solidFill>
                <a:latin typeface="Algerian" panose="04020705040A02060702" pitchFamily="82" charset="0"/>
              </a:rPr>
              <a:t>INDEX</a:t>
            </a:r>
          </a:p>
        </p:txBody>
      </p:sp>
      <p:sp>
        <p:nvSpPr>
          <p:cNvPr id="3" name="TextBox 2">
            <a:extLst>
              <a:ext uri="{FF2B5EF4-FFF2-40B4-BE49-F238E27FC236}">
                <a16:creationId xmlns:a16="http://schemas.microsoft.com/office/drawing/2014/main" id="{D4DD8116-28AC-FA0D-0EED-2F774D8EB5D3}"/>
              </a:ext>
            </a:extLst>
          </p:cNvPr>
          <p:cNvSpPr txBox="1"/>
          <p:nvPr/>
        </p:nvSpPr>
        <p:spPr>
          <a:xfrm>
            <a:off x="5415280" y="1097280"/>
            <a:ext cx="7376160" cy="5016758"/>
          </a:xfrm>
          <a:prstGeom prst="rect">
            <a:avLst/>
          </a:prstGeom>
          <a:noFill/>
        </p:spPr>
        <p:txBody>
          <a:bodyPr wrap="square" rtlCol="0">
            <a:spAutoFit/>
          </a:bodyPr>
          <a:lstStyle/>
          <a:p>
            <a:pPr marL="342900" indent="-342900">
              <a:buAutoNum type="arabicPeriod"/>
            </a:pPr>
            <a:r>
              <a:rPr lang="en-IN" sz="3200" dirty="0">
                <a:solidFill>
                  <a:srgbClr val="002060"/>
                </a:solidFill>
                <a:latin typeface="Bell MT" panose="02020503060305020303" pitchFamily="18" charset="0"/>
              </a:rPr>
              <a:t>Introduction</a:t>
            </a:r>
          </a:p>
          <a:p>
            <a:pPr marL="342900" indent="-342900">
              <a:buAutoNum type="arabicPeriod"/>
            </a:pPr>
            <a:r>
              <a:rPr lang="en-IN" sz="3200" dirty="0">
                <a:solidFill>
                  <a:srgbClr val="002060"/>
                </a:solidFill>
                <a:latin typeface="Bell MT" panose="02020503060305020303" pitchFamily="18" charset="0"/>
              </a:rPr>
              <a:t>Data Understanding</a:t>
            </a:r>
          </a:p>
          <a:p>
            <a:pPr marL="342900" indent="-342900">
              <a:buAutoNum type="arabicPeriod"/>
            </a:pPr>
            <a:r>
              <a:rPr lang="en-IN" sz="3200" dirty="0">
                <a:solidFill>
                  <a:srgbClr val="002060"/>
                </a:solidFill>
                <a:latin typeface="Bell MT" panose="02020503060305020303" pitchFamily="18" charset="0"/>
              </a:rPr>
              <a:t>Data Cleaning &amp; Preparation</a:t>
            </a:r>
          </a:p>
          <a:p>
            <a:pPr marL="342900" indent="-342900">
              <a:buAutoNum type="arabicPeriod"/>
            </a:pPr>
            <a:r>
              <a:rPr lang="en-IN" sz="3200" dirty="0">
                <a:solidFill>
                  <a:srgbClr val="002060"/>
                </a:solidFill>
                <a:latin typeface="Bell MT" panose="02020503060305020303" pitchFamily="18" charset="0"/>
              </a:rPr>
              <a:t>Exploratory Data Analysis</a:t>
            </a:r>
          </a:p>
          <a:p>
            <a:pPr marL="342900" indent="-342900">
              <a:buAutoNum type="arabicPeriod"/>
            </a:pPr>
            <a:r>
              <a:rPr lang="en-IN" sz="3200" dirty="0">
                <a:solidFill>
                  <a:srgbClr val="002060"/>
                </a:solidFill>
                <a:latin typeface="Bell MT" panose="02020503060305020303" pitchFamily="18" charset="0"/>
              </a:rPr>
              <a:t>KPI Development</a:t>
            </a:r>
          </a:p>
          <a:p>
            <a:pPr marL="342900" indent="-342900">
              <a:buAutoNum type="arabicPeriod"/>
            </a:pPr>
            <a:r>
              <a:rPr lang="en-IN" sz="3200" dirty="0">
                <a:solidFill>
                  <a:srgbClr val="002060"/>
                </a:solidFill>
                <a:latin typeface="Bell MT" panose="02020503060305020303" pitchFamily="18" charset="0"/>
              </a:rPr>
              <a:t>Customer &amp; Seller Analysis</a:t>
            </a:r>
          </a:p>
          <a:p>
            <a:pPr marL="342900" indent="-342900">
              <a:buAutoNum type="arabicPeriod"/>
            </a:pPr>
            <a:r>
              <a:rPr lang="en-US" sz="3200" dirty="0">
                <a:solidFill>
                  <a:srgbClr val="002060"/>
                </a:solidFill>
                <a:latin typeface="Bell MT" panose="02020503060305020303" pitchFamily="18" charset="0"/>
              </a:rPr>
              <a:t>Data Visualization (Tableau/Power BI/Excel)</a:t>
            </a:r>
          </a:p>
          <a:p>
            <a:pPr marL="342900" indent="-342900">
              <a:buAutoNum type="arabicPeriod"/>
            </a:pPr>
            <a:r>
              <a:rPr lang="en-IN" sz="3200" dirty="0">
                <a:solidFill>
                  <a:srgbClr val="002060"/>
                </a:solidFill>
                <a:latin typeface="Bell MT" panose="02020503060305020303" pitchFamily="18" charset="0"/>
              </a:rPr>
              <a:t>Insights &amp; Recommendations</a:t>
            </a:r>
          </a:p>
          <a:p>
            <a:pPr marL="342900" indent="-342900">
              <a:buAutoNum type="arabicPeriod"/>
            </a:pPr>
            <a:r>
              <a:rPr lang="en-IN" sz="3200" dirty="0">
                <a:solidFill>
                  <a:srgbClr val="002060"/>
                </a:solidFill>
                <a:latin typeface="Bell MT" panose="02020503060305020303" pitchFamily="18" charset="0"/>
              </a:rPr>
              <a:t>Conclusion</a:t>
            </a:r>
          </a:p>
        </p:txBody>
      </p:sp>
    </p:spTree>
    <p:extLst>
      <p:ext uri="{BB962C8B-B14F-4D97-AF65-F5344CB8AC3E}">
        <p14:creationId xmlns:p14="http://schemas.microsoft.com/office/powerpoint/2010/main" val="1010487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B4677-B2BF-7608-52EB-B375B3693728}"/>
              </a:ext>
            </a:extLst>
          </p:cNvPr>
          <p:cNvSpPr txBox="1"/>
          <p:nvPr/>
        </p:nvSpPr>
        <p:spPr>
          <a:xfrm>
            <a:off x="5648960" y="0"/>
            <a:ext cx="3677920" cy="707886"/>
          </a:xfrm>
          <a:prstGeom prst="rect">
            <a:avLst/>
          </a:prstGeom>
          <a:noFill/>
        </p:spPr>
        <p:txBody>
          <a:bodyPr wrap="square" rtlCol="0">
            <a:spAutoFit/>
          </a:bodyPr>
          <a:lstStyle/>
          <a:p>
            <a:r>
              <a:rPr lang="en-IN" sz="4000" b="1" dirty="0">
                <a:solidFill>
                  <a:srgbClr val="7030A0"/>
                </a:solidFill>
                <a:latin typeface="Algerian" panose="04020705040A02060702" pitchFamily="82" charset="0"/>
              </a:rPr>
              <a:t>KPI-1</a:t>
            </a:r>
          </a:p>
        </p:txBody>
      </p:sp>
      <p:pic>
        <p:nvPicPr>
          <p:cNvPr id="4" name="Picture 3">
            <a:extLst>
              <a:ext uri="{FF2B5EF4-FFF2-40B4-BE49-F238E27FC236}">
                <a16:creationId xmlns:a16="http://schemas.microsoft.com/office/drawing/2014/main" id="{C1BB01E2-65BF-1D01-BCEF-DCA3969FAE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3120" y="628060"/>
            <a:ext cx="9652000" cy="416746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TextBox 4">
            <a:extLst>
              <a:ext uri="{FF2B5EF4-FFF2-40B4-BE49-F238E27FC236}">
                <a16:creationId xmlns:a16="http://schemas.microsoft.com/office/drawing/2014/main" id="{9E390740-8950-9827-871A-298F2F4E3698}"/>
              </a:ext>
            </a:extLst>
          </p:cNvPr>
          <p:cNvSpPr txBox="1"/>
          <p:nvPr/>
        </p:nvSpPr>
        <p:spPr>
          <a:xfrm>
            <a:off x="3779520" y="4815840"/>
            <a:ext cx="8209280" cy="1569660"/>
          </a:xfrm>
          <a:prstGeom prst="rect">
            <a:avLst/>
          </a:prstGeom>
          <a:noFill/>
        </p:spPr>
        <p:txBody>
          <a:bodyPr wrap="square" rtlCol="0">
            <a:spAutoFit/>
          </a:bodyPr>
          <a:lstStyle/>
          <a:p>
            <a:r>
              <a:rPr lang="en-US" sz="2400" dirty="0">
                <a:latin typeface="Bell MT" panose="02020503060305020303" pitchFamily="18" charset="0"/>
              </a:rPr>
              <a:t>Most of the purchases (88.3%) happen on weekdays, while only 11.7% occur on weekends. This shows customers are more active during weekdays, so promotions and campaigns should be focused on weekdays, with special offers to boost weekend sales</a:t>
            </a:r>
            <a:r>
              <a:rPr lang="en-US" dirty="0">
                <a:latin typeface="Bell MT" panose="02020503060305020303" pitchFamily="18" charset="0"/>
              </a:rPr>
              <a:t>.</a:t>
            </a:r>
          </a:p>
        </p:txBody>
      </p:sp>
    </p:spTree>
    <p:extLst>
      <p:ext uri="{BB962C8B-B14F-4D97-AF65-F5344CB8AC3E}">
        <p14:creationId xmlns:p14="http://schemas.microsoft.com/office/powerpoint/2010/main" val="2112564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42D4DC-4ECE-1D76-CC63-F5DEC77DAACA}"/>
              </a:ext>
            </a:extLst>
          </p:cNvPr>
          <p:cNvSpPr txBox="1"/>
          <p:nvPr/>
        </p:nvSpPr>
        <p:spPr>
          <a:xfrm>
            <a:off x="5598160" y="0"/>
            <a:ext cx="6096000" cy="707886"/>
          </a:xfrm>
          <a:prstGeom prst="rect">
            <a:avLst/>
          </a:prstGeom>
          <a:noFill/>
        </p:spPr>
        <p:txBody>
          <a:bodyPr wrap="square">
            <a:spAutoFit/>
          </a:bodyPr>
          <a:lstStyle/>
          <a:p>
            <a:r>
              <a:rPr lang="en-IN" sz="4000" b="1" dirty="0">
                <a:solidFill>
                  <a:srgbClr val="7030A0"/>
                </a:solidFill>
                <a:latin typeface="Algerian" panose="04020705040A02060702" pitchFamily="82" charset="0"/>
              </a:rPr>
              <a:t>KPI-2</a:t>
            </a:r>
          </a:p>
        </p:txBody>
      </p:sp>
      <p:pic>
        <p:nvPicPr>
          <p:cNvPr id="5" name="Picture 4">
            <a:extLst>
              <a:ext uri="{FF2B5EF4-FFF2-40B4-BE49-F238E27FC236}">
                <a16:creationId xmlns:a16="http://schemas.microsoft.com/office/drawing/2014/main" id="{32F2B9F8-09AD-5250-C7CC-BB9F34E947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4400" y="701041"/>
            <a:ext cx="9591040" cy="4003039"/>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6" name="TextBox 5">
            <a:extLst>
              <a:ext uri="{FF2B5EF4-FFF2-40B4-BE49-F238E27FC236}">
                <a16:creationId xmlns:a16="http://schemas.microsoft.com/office/drawing/2014/main" id="{EE6FBFCB-C91A-12BF-F379-291F79F36339}"/>
              </a:ext>
            </a:extLst>
          </p:cNvPr>
          <p:cNvSpPr txBox="1"/>
          <p:nvPr/>
        </p:nvSpPr>
        <p:spPr>
          <a:xfrm>
            <a:off x="3271520" y="4826000"/>
            <a:ext cx="8615680" cy="1631216"/>
          </a:xfrm>
          <a:prstGeom prst="rect">
            <a:avLst/>
          </a:prstGeom>
          <a:noFill/>
        </p:spPr>
        <p:txBody>
          <a:bodyPr wrap="square" rtlCol="0">
            <a:spAutoFit/>
          </a:bodyPr>
          <a:lstStyle/>
          <a:p>
            <a:r>
              <a:rPr lang="en-US" sz="2000" dirty="0">
                <a:latin typeface="Bell MT" panose="02020503060305020303" pitchFamily="18" charset="0"/>
              </a:rPr>
              <a:t>Most 5-star reviews come from credit card payments (75,810 orders), showing it is the most preferred and reliable payment method. Other modes like  </a:t>
            </a:r>
            <a:r>
              <a:rPr lang="en-US" sz="2000" dirty="0" err="1">
                <a:latin typeface="Bell MT" panose="02020503060305020303" pitchFamily="18" charset="0"/>
              </a:rPr>
              <a:t>boleto</a:t>
            </a:r>
            <a:r>
              <a:rPr lang="en-US" sz="2000" dirty="0">
                <a:latin typeface="Bell MT" panose="02020503060305020303" pitchFamily="18" charset="0"/>
              </a:rPr>
              <a:t> (19,595), debit card (1,521), and voucher (3,758) have much lower counts.</a:t>
            </a:r>
          </a:p>
          <a:p>
            <a:r>
              <a:rPr lang="en-US" sz="2000" dirty="0">
                <a:latin typeface="Bell MT" panose="02020503060305020303" pitchFamily="18" charset="0"/>
              </a:rPr>
              <a:t>Credit card dominates customer satisfaction with the highest number of 5-star reviews</a:t>
            </a:r>
            <a:r>
              <a:rPr lang="en-US" sz="2000" dirty="0"/>
              <a:t>.</a:t>
            </a:r>
            <a:endParaRPr lang="en-IN" sz="2000" dirty="0"/>
          </a:p>
        </p:txBody>
      </p:sp>
    </p:spTree>
    <p:extLst>
      <p:ext uri="{BB962C8B-B14F-4D97-AF65-F5344CB8AC3E}">
        <p14:creationId xmlns:p14="http://schemas.microsoft.com/office/powerpoint/2010/main" val="1518542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7E998E-46C2-3A08-DE64-2D5AAC4B20F8}"/>
              </a:ext>
            </a:extLst>
          </p:cNvPr>
          <p:cNvSpPr txBox="1"/>
          <p:nvPr/>
        </p:nvSpPr>
        <p:spPr>
          <a:xfrm>
            <a:off x="5344160" y="-132080"/>
            <a:ext cx="2509520" cy="707886"/>
          </a:xfrm>
          <a:prstGeom prst="rect">
            <a:avLst/>
          </a:prstGeom>
          <a:noFill/>
        </p:spPr>
        <p:txBody>
          <a:bodyPr wrap="square" rtlCol="0">
            <a:spAutoFit/>
          </a:bodyPr>
          <a:lstStyle/>
          <a:p>
            <a:r>
              <a:rPr lang="en-IN" sz="4000" b="1" dirty="0">
                <a:solidFill>
                  <a:srgbClr val="7030A0"/>
                </a:solidFill>
                <a:latin typeface="Algerian" panose="04020705040A02060702" pitchFamily="82" charset="0"/>
              </a:rPr>
              <a:t>KPI-3</a:t>
            </a:r>
          </a:p>
        </p:txBody>
      </p:sp>
      <p:sp>
        <p:nvSpPr>
          <p:cNvPr id="3" name="TextBox 2">
            <a:extLst>
              <a:ext uri="{FF2B5EF4-FFF2-40B4-BE49-F238E27FC236}">
                <a16:creationId xmlns:a16="http://schemas.microsoft.com/office/drawing/2014/main" id="{5DE6780D-098B-0964-3FAF-D1A8B3C40B26}"/>
              </a:ext>
            </a:extLst>
          </p:cNvPr>
          <p:cNvSpPr txBox="1"/>
          <p:nvPr/>
        </p:nvSpPr>
        <p:spPr>
          <a:xfrm>
            <a:off x="3688080" y="4663440"/>
            <a:ext cx="8321040" cy="2308324"/>
          </a:xfrm>
          <a:prstGeom prst="rect">
            <a:avLst/>
          </a:prstGeom>
          <a:noFill/>
        </p:spPr>
        <p:txBody>
          <a:bodyPr wrap="square" rtlCol="0">
            <a:spAutoFit/>
          </a:bodyPr>
          <a:lstStyle/>
          <a:p>
            <a:r>
              <a:rPr lang="en-US" dirty="0">
                <a:latin typeface="Bell MT" panose="02020503060305020303" pitchFamily="18" charset="0"/>
              </a:rPr>
              <a:t>This chart shows the average number of days taken for delivery across selected product categories.</a:t>
            </a:r>
          </a:p>
          <a:p>
            <a:r>
              <a:rPr lang="en-US" dirty="0">
                <a:latin typeface="Bell MT" panose="02020503060305020303" pitchFamily="18" charset="0"/>
              </a:rPr>
              <a:t>Pet Shop products take the least time, around 11 days on average.</a:t>
            </a:r>
          </a:p>
          <a:p>
            <a:r>
              <a:rPr lang="en-US" dirty="0">
                <a:latin typeface="Bell MT" panose="02020503060305020303" pitchFamily="18" charset="0"/>
              </a:rPr>
              <a:t>PCS items take about 14 days.</a:t>
            </a:r>
          </a:p>
          <a:p>
            <a:r>
              <a:rPr lang="en-US" dirty="0">
                <a:latin typeface="Bell MT" panose="02020503060305020303" pitchFamily="18" charset="0"/>
              </a:rPr>
              <a:t>Fashion/</a:t>
            </a:r>
            <a:r>
              <a:rPr lang="en-US" dirty="0" err="1">
                <a:latin typeface="Bell MT" panose="02020503060305020303" pitchFamily="18" charset="0"/>
              </a:rPr>
              <a:t>Calçados</a:t>
            </a:r>
            <a:r>
              <a:rPr lang="en-US" dirty="0">
                <a:latin typeface="Bell MT" panose="02020503060305020303" pitchFamily="18" charset="0"/>
              </a:rPr>
              <a:t> products take the longest, around 16 days.</a:t>
            </a:r>
          </a:p>
          <a:p>
            <a:pPr marL="285750" indent="-285750">
              <a:buFont typeface="Wingdings" panose="05000000000000000000" pitchFamily="2" charset="2"/>
              <a:buChar char="Ø"/>
            </a:pPr>
            <a:r>
              <a:rPr lang="en-US" dirty="0">
                <a:latin typeface="Bell MT" panose="02020503060305020303" pitchFamily="18" charset="0"/>
              </a:rPr>
              <a:t>This indicates that delivery speed varies by category, with pet shop items being delivered faster, while fashion items face longer delivery timelines.</a:t>
            </a:r>
          </a:p>
          <a:p>
            <a:endParaRPr lang="en-IN" dirty="0"/>
          </a:p>
        </p:txBody>
      </p:sp>
      <p:pic>
        <p:nvPicPr>
          <p:cNvPr id="7" name="Picture 6">
            <a:extLst>
              <a:ext uri="{FF2B5EF4-FFF2-40B4-BE49-F238E27FC236}">
                <a16:creationId xmlns:a16="http://schemas.microsoft.com/office/drawing/2014/main" id="{2BF19164-97F4-D65C-353D-8AF7614CD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8560" y="465622"/>
            <a:ext cx="9265920" cy="406573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654472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6A57D5-CDD0-1D3F-9D89-4EF8BDCA3D15}"/>
              </a:ext>
            </a:extLst>
          </p:cNvPr>
          <p:cNvSpPr txBox="1"/>
          <p:nvPr/>
        </p:nvSpPr>
        <p:spPr>
          <a:xfrm>
            <a:off x="5659120" y="-81280"/>
            <a:ext cx="2804160" cy="707886"/>
          </a:xfrm>
          <a:prstGeom prst="rect">
            <a:avLst/>
          </a:prstGeom>
          <a:noFill/>
        </p:spPr>
        <p:txBody>
          <a:bodyPr wrap="square" rtlCol="0">
            <a:spAutoFit/>
          </a:bodyPr>
          <a:lstStyle/>
          <a:p>
            <a:r>
              <a:rPr lang="en-IN" sz="4000" b="1" dirty="0">
                <a:solidFill>
                  <a:srgbClr val="7030A0"/>
                </a:solidFill>
                <a:latin typeface="Algerian" panose="04020705040A02060702" pitchFamily="82" charset="0"/>
              </a:rPr>
              <a:t>KPI-4</a:t>
            </a:r>
          </a:p>
        </p:txBody>
      </p:sp>
      <p:pic>
        <p:nvPicPr>
          <p:cNvPr id="4" name="Picture 3">
            <a:extLst>
              <a:ext uri="{FF2B5EF4-FFF2-40B4-BE49-F238E27FC236}">
                <a16:creationId xmlns:a16="http://schemas.microsoft.com/office/drawing/2014/main" id="{8B10A95F-27CC-A6B3-68AD-574A11B397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0320" y="479255"/>
            <a:ext cx="8981440" cy="403178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TextBox 4">
            <a:extLst>
              <a:ext uri="{FF2B5EF4-FFF2-40B4-BE49-F238E27FC236}">
                <a16:creationId xmlns:a16="http://schemas.microsoft.com/office/drawing/2014/main" id="{AD91E61B-BD70-E3A4-7BCB-C5FFE05C4669}"/>
              </a:ext>
            </a:extLst>
          </p:cNvPr>
          <p:cNvSpPr txBox="1"/>
          <p:nvPr/>
        </p:nvSpPr>
        <p:spPr>
          <a:xfrm>
            <a:off x="3312160" y="4643120"/>
            <a:ext cx="7863840" cy="2523768"/>
          </a:xfrm>
          <a:prstGeom prst="rect">
            <a:avLst/>
          </a:prstGeom>
          <a:noFill/>
        </p:spPr>
        <p:txBody>
          <a:bodyPr wrap="square" rtlCol="0">
            <a:spAutoFit/>
          </a:bodyPr>
          <a:lstStyle/>
          <a:p>
            <a:r>
              <a:rPr lang="en-US" sz="2000" dirty="0">
                <a:latin typeface="Bell MT" panose="02020503060305020303" pitchFamily="18" charset="0"/>
              </a:rPr>
              <a:t>This chart shows the average price and payment values for customers from São Paulo City.</a:t>
            </a:r>
          </a:p>
          <a:p>
            <a:r>
              <a:rPr lang="en-US" sz="2000" dirty="0">
                <a:latin typeface="Bell MT" panose="02020503060305020303" pitchFamily="18" charset="0"/>
              </a:rPr>
              <a:t>The average product price is 107.74.</a:t>
            </a:r>
          </a:p>
          <a:p>
            <a:r>
              <a:rPr lang="en-US" sz="2000" dirty="0">
                <a:latin typeface="Bell MT" panose="02020503060305020303" pitchFamily="18" charset="0"/>
              </a:rPr>
              <a:t>The average payment value is higher at 135.19.</a:t>
            </a:r>
          </a:p>
          <a:p>
            <a:pPr marL="285750" indent="-285750">
              <a:buFont typeface="Wingdings" panose="05000000000000000000" pitchFamily="2" charset="2"/>
              <a:buChar char="Ø"/>
            </a:pPr>
            <a:r>
              <a:rPr lang="en-US" sz="2000" dirty="0">
                <a:latin typeface="Bell MT" panose="02020503060305020303" pitchFamily="18" charset="0"/>
              </a:rPr>
              <a:t> This indicates that customers in São Paulo tend to pay more than the base price, possibly due to shipping costs, installment charges, or additional fees.</a:t>
            </a:r>
          </a:p>
          <a:p>
            <a:endParaRPr lang="en-IN" dirty="0"/>
          </a:p>
        </p:txBody>
      </p:sp>
    </p:spTree>
    <p:extLst>
      <p:ext uri="{BB962C8B-B14F-4D97-AF65-F5344CB8AC3E}">
        <p14:creationId xmlns:p14="http://schemas.microsoft.com/office/powerpoint/2010/main" val="2552959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54AC4-5D84-A5A2-7B6C-B9C2175014BF}"/>
              </a:ext>
            </a:extLst>
          </p:cNvPr>
          <p:cNvSpPr txBox="1"/>
          <p:nvPr/>
        </p:nvSpPr>
        <p:spPr>
          <a:xfrm>
            <a:off x="5069840" y="-101600"/>
            <a:ext cx="249936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KPI-5</a:t>
            </a:r>
          </a:p>
        </p:txBody>
      </p:sp>
      <p:pic>
        <p:nvPicPr>
          <p:cNvPr id="4" name="Picture 3">
            <a:extLst>
              <a:ext uri="{FF2B5EF4-FFF2-40B4-BE49-F238E27FC236}">
                <a16:creationId xmlns:a16="http://schemas.microsoft.com/office/drawing/2014/main" id="{65EE4A72-0E70-91B7-FD59-21870BA34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4880" y="463437"/>
            <a:ext cx="9113520" cy="402728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5" name="TextBox 4">
            <a:extLst>
              <a:ext uri="{FF2B5EF4-FFF2-40B4-BE49-F238E27FC236}">
                <a16:creationId xmlns:a16="http://schemas.microsoft.com/office/drawing/2014/main" id="{4D969A04-97A6-9B23-E38B-2A9EFC511643}"/>
              </a:ext>
            </a:extLst>
          </p:cNvPr>
          <p:cNvSpPr txBox="1"/>
          <p:nvPr/>
        </p:nvSpPr>
        <p:spPr>
          <a:xfrm>
            <a:off x="3525520" y="4611231"/>
            <a:ext cx="8036560" cy="2246769"/>
          </a:xfrm>
          <a:prstGeom prst="rect">
            <a:avLst/>
          </a:prstGeom>
          <a:noFill/>
        </p:spPr>
        <p:txBody>
          <a:bodyPr wrap="square" rtlCol="0">
            <a:spAutoFit/>
          </a:bodyPr>
          <a:lstStyle/>
          <a:p>
            <a:r>
              <a:rPr lang="en-US" sz="2000" dirty="0">
                <a:latin typeface="Bell MT" panose="02020503060305020303" pitchFamily="18" charset="0"/>
              </a:rPr>
              <a:t>This chart shows the relationship between shipping days and review scores.</a:t>
            </a:r>
          </a:p>
          <a:p>
            <a:r>
              <a:rPr lang="en-US" sz="2000" dirty="0">
                <a:latin typeface="Bell MT" panose="02020503060305020303" pitchFamily="18" charset="0"/>
              </a:rPr>
              <a:t>Lower review scores (1 &amp; 2) are linked with longer delivery times (21 and 17 days).</a:t>
            </a:r>
          </a:p>
          <a:p>
            <a:r>
              <a:rPr lang="en-US" sz="2000" dirty="0">
                <a:latin typeface="Bell MT" panose="02020503060305020303" pitchFamily="18" charset="0"/>
              </a:rPr>
              <a:t>Higher review scores (4 &amp; 5) are linked with faster deliveries (12 and 11 days).</a:t>
            </a:r>
          </a:p>
          <a:p>
            <a:pPr marL="285750" indent="-285750">
              <a:buFont typeface="Wingdings" panose="05000000000000000000" pitchFamily="2" charset="2"/>
              <a:buChar char="Ø"/>
            </a:pPr>
            <a:r>
              <a:rPr lang="en-US" sz="2000" dirty="0">
                <a:latin typeface="Bell MT" panose="02020503060305020303" pitchFamily="18" charset="0"/>
              </a:rPr>
              <a:t> Insight: Faster delivery leads to better customer satisfaction and higher review scores</a:t>
            </a:r>
            <a:r>
              <a:rPr lang="en-US" sz="2000" b="1" dirty="0"/>
              <a:t>.</a:t>
            </a:r>
            <a:endParaRPr lang="en-US" sz="2000" dirty="0"/>
          </a:p>
        </p:txBody>
      </p:sp>
    </p:spTree>
    <p:extLst>
      <p:ext uri="{BB962C8B-B14F-4D97-AF65-F5344CB8AC3E}">
        <p14:creationId xmlns:p14="http://schemas.microsoft.com/office/powerpoint/2010/main" val="1454671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9417CE-74C4-5A50-3EFB-9861FC9192C6}"/>
              </a:ext>
            </a:extLst>
          </p:cNvPr>
          <p:cNvSpPr txBox="1"/>
          <p:nvPr/>
        </p:nvSpPr>
        <p:spPr>
          <a:xfrm>
            <a:off x="3393440" y="0"/>
            <a:ext cx="738632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TABLEAU DASHBOARD</a:t>
            </a:r>
          </a:p>
        </p:txBody>
      </p:sp>
      <p:pic>
        <p:nvPicPr>
          <p:cNvPr id="4" name="Picture 3">
            <a:extLst>
              <a:ext uri="{FF2B5EF4-FFF2-40B4-BE49-F238E27FC236}">
                <a16:creationId xmlns:a16="http://schemas.microsoft.com/office/drawing/2014/main" id="{7A7DD082-D478-B81C-B76A-39BF4CA30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40" y="680720"/>
            <a:ext cx="11541760" cy="602488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15174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5D1DA8-C529-B831-1F0B-C0950A7A0F97}"/>
              </a:ext>
            </a:extLst>
          </p:cNvPr>
          <p:cNvSpPr txBox="1"/>
          <p:nvPr/>
        </p:nvSpPr>
        <p:spPr>
          <a:xfrm>
            <a:off x="3539613" y="0"/>
            <a:ext cx="5456904" cy="707886"/>
          </a:xfrm>
          <a:prstGeom prst="rect">
            <a:avLst/>
          </a:prstGeom>
          <a:noFill/>
        </p:spPr>
        <p:txBody>
          <a:bodyPr wrap="square" rtlCol="0">
            <a:spAutoFit/>
          </a:bodyPr>
          <a:lstStyle/>
          <a:p>
            <a:r>
              <a:rPr lang="en-IN" sz="4000" b="1" dirty="0">
                <a:solidFill>
                  <a:srgbClr val="7030A0"/>
                </a:solidFill>
                <a:latin typeface="Algerian" panose="04020705040A02060702" pitchFamily="82" charset="0"/>
              </a:rPr>
              <a:t>EXCEL DASHBOARD</a:t>
            </a:r>
          </a:p>
        </p:txBody>
      </p:sp>
      <p:pic>
        <p:nvPicPr>
          <p:cNvPr id="4" name="Picture 3">
            <a:extLst>
              <a:ext uri="{FF2B5EF4-FFF2-40B4-BE49-F238E27FC236}">
                <a16:creationId xmlns:a16="http://schemas.microsoft.com/office/drawing/2014/main" id="{57E22F36-82DC-86EB-B2CC-711A6635F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644" y="717755"/>
            <a:ext cx="11867537" cy="577153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078598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50D2DAA4-E52A-E711-8FEE-62512F62BB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70F32E-E894-2438-89A7-C1684445FD11}"/>
              </a:ext>
            </a:extLst>
          </p:cNvPr>
          <p:cNvSpPr txBox="1"/>
          <p:nvPr/>
        </p:nvSpPr>
        <p:spPr>
          <a:xfrm>
            <a:off x="3421626" y="0"/>
            <a:ext cx="6312309"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POWERBI DASHBOARD</a:t>
            </a:r>
          </a:p>
        </p:txBody>
      </p:sp>
      <p:pic>
        <p:nvPicPr>
          <p:cNvPr id="5" name="Picture 4">
            <a:extLst>
              <a:ext uri="{FF2B5EF4-FFF2-40B4-BE49-F238E27FC236}">
                <a16:creationId xmlns:a16="http://schemas.microsoft.com/office/drawing/2014/main" id="{75818754-C775-FF49-7580-83403AF696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1" y="660723"/>
            <a:ext cx="10816518" cy="6064542"/>
          </a:xfrm>
          <a:prstGeom prst="rect">
            <a:avLst/>
          </a:prstGeom>
        </p:spPr>
      </p:pic>
    </p:spTree>
    <p:extLst>
      <p:ext uri="{BB962C8B-B14F-4D97-AF65-F5344CB8AC3E}">
        <p14:creationId xmlns:p14="http://schemas.microsoft.com/office/powerpoint/2010/main" val="15705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380EE446-01EE-9158-5724-11417C39CB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2A1B68-25C8-131F-3990-6B5C0FCC3B13}"/>
              </a:ext>
            </a:extLst>
          </p:cNvPr>
          <p:cNvSpPr txBox="1"/>
          <p:nvPr/>
        </p:nvSpPr>
        <p:spPr>
          <a:xfrm>
            <a:off x="4399280" y="0"/>
            <a:ext cx="794512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SQL QUERY</a:t>
            </a:r>
          </a:p>
        </p:txBody>
      </p:sp>
      <p:pic>
        <p:nvPicPr>
          <p:cNvPr id="4" name="Picture 3">
            <a:extLst>
              <a:ext uri="{FF2B5EF4-FFF2-40B4-BE49-F238E27FC236}">
                <a16:creationId xmlns:a16="http://schemas.microsoft.com/office/drawing/2014/main" id="{B7DCEFAD-0872-8E45-3CE8-9A65DBAEA5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440" y="806410"/>
            <a:ext cx="9814560" cy="546230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47116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378018A6-CE32-1EEB-CC58-FFC0631C3F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5F8C63-02B3-9CCB-7515-527E6C60F6F7}"/>
              </a:ext>
            </a:extLst>
          </p:cNvPr>
          <p:cNvSpPr txBox="1"/>
          <p:nvPr/>
        </p:nvSpPr>
        <p:spPr>
          <a:xfrm>
            <a:off x="4399280" y="0"/>
            <a:ext cx="794512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SQL QUERY</a:t>
            </a:r>
          </a:p>
        </p:txBody>
      </p:sp>
      <p:pic>
        <p:nvPicPr>
          <p:cNvPr id="5" name="Picture 4">
            <a:extLst>
              <a:ext uri="{FF2B5EF4-FFF2-40B4-BE49-F238E27FC236}">
                <a16:creationId xmlns:a16="http://schemas.microsoft.com/office/drawing/2014/main" id="{5F336213-6577-5660-B376-CAB5F60BB4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1360" y="643838"/>
            <a:ext cx="9814560" cy="587888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870190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1C103E8B-80AE-C34E-52F2-3E2F863799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992341-D680-ED56-B21E-43786E0BDFEA}"/>
              </a:ext>
            </a:extLst>
          </p:cNvPr>
          <p:cNvSpPr txBox="1"/>
          <p:nvPr/>
        </p:nvSpPr>
        <p:spPr>
          <a:xfrm>
            <a:off x="4399280" y="0"/>
            <a:ext cx="794512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SQL QUERY</a:t>
            </a:r>
          </a:p>
        </p:txBody>
      </p:sp>
      <p:pic>
        <p:nvPicPr>
          <p:cNvPr id="4" name="Picture 3">
            <a:extLst>
              <a:ext uri="{FF2B5EF4-FFF2-40B4-BE49-F238E27FC236}">
                <a16:creationId xmlns:a16="http://schemas.microsoft.com/office/drawing/2014/main" id="{3C023650-683D-1A58-56F8-0975D2E3D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3120" y="873760"/>
            <a:ext cx="9611360" cy="517144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457171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CDA66790-D0DF-C92F-37FF-2038EDAB58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90FE3B-102E-E22B-8800-78D0A316FC66}"/>
              </a:ext>
            </a:extLst>
          </p:cNvPr>
          <p:cNvSpPr txBox="1"/>
          <p:nvPr/>
        </p:nvSpPr>
        <p:spPr>
          <a:xfrm>
            <a:off x="4399280" y="0"/>
            <a:ext cx="794512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SQL QUERY</a:t>
            </a:r>
          </a:p>
        </p:txBody>
      </p:sp>
      <p:pic>
        <p:nvPicPr>
          <p:cNvPr id="5" name="Picture 4">
            <a:extLst>
              <a:ext uri="{FF2B5EF4-FFF2-40B4-BE49-F238E27FC236}">
                <a16:creationId xmlns:a16="http://schemas.microsoft.com/office/drawing/2014/main" id="{4F97098D-6FF1-9CF3-1A65-44F8E35BA5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80" y="729008"/>
            <a:ext cx="9997440" cy="576323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694791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0E94F106-81A0-3095-8BB8-2086BF28DB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EB40EA-58E1-1360-7976-4323918B157C}"/>
              </a:ext>
            </a:extLst>
          </p:cNvPr>
          <p:cNvSpPr txBox="1"/>
          <p:nvPr/>
        </p:nvSpPr>
        <p:spPr>
          <a:xfrm>
            <a:off x="4399280" y="0"/>
            <a:ext cx="794512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SQL QUERY</a:t>
            </a:r>
          </a:p>
        </p:txBody>
      </p:sp>
      <p:pic>
        <p:nvPicPr>
          <p:cNvPr id="4" name="Picture 3">
            <a:extLst>
              <a:ext uri="{FF2B5EF4-FFF2-40B4-BE49-F238E27FC236}">
                <a16:creationId xmlns:a16="http://schemas.microsoft.com/office/drawing/2014/main" id="{DA2751E3-A071-443C-C965-C3879BE93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1280" y="883920"/>
            <a:ext cx="9103360" cy="494792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360663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4336492D-D852-47FB-54DA-6593194DF5A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D812CC-DC9D-1A50-025B-E3B3E6080314}"/>
              </a:ext>
            </a:extLst>
          </p:cNvPr>
          <p:cNvSpPr txBox="1"/>
          <p:nvPr/>
        </p:nvSpPr>
        <p:spPr>
          <a:xfrm>
            <a:off x="4399280" y="0"/>
            <a:ext cx="794512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CONCLUSION</a:t>
            </a:r>
          </a:p>
        </p:txBody>
      </p:sp>
      <p:sp>
        <p:nvSpPr>
          <p:cNvPr id="3" name="TextBox 2">
            <a:extLst>
              <a:ext uri="{FF2B5EF4-FFF2-40B4-BE49-F238E27FC236}">
                <a16:creationId xmlns:a16="http://schemas.microsoft.com/office/drawing/2014/main" id="{332B0559-D099-79B6-592F-18F788A23C5C}"/>
              </a:ext>
            </a:extLst>
          </p:cNvPr>
          <p:cNvSpPr txBox="1"/>
          <p:nvPr/>
        </p:nvSpPr>
        <p:spPr>
          <a:xfrm>
            <a:off x="2733368" y="1130710"/>
            <a:ext cx="9075174" cy="3785652"/>
          </a:xfrm>
          <a:prstGeom prst="rect">
            <a:avLst/>
          </a:prstGeom>
          <a:noFill/>
        </p:spPr>
        <p:txBody>
          <a:bodyPr wrap="square" rtlCol="0">
            <a:spAutoFit/>
          </a:bodyPr>
          <a:lstStyle/>
          <a:p>
            <a:r>
              <a:rPr lang="en-US" sz="2400" dirty="0">
                <a:latin typeface="Bell MT" panose="02020503060305020303" pitchFamily="18" charset="0"/>
              </a:rPr>
              <a:t>Overall, this project helped me understand how to handle real-world e-commerce data. I faced many challenges during the process, like cleaning messy data, linking different tables correctly, and choosing the right visuals to show insights clearly.</a:t>
            </a:r>
            <a:br>
              <a:rPr lang="en-US" sz="2400" dirty="0">
                <a:latin typeface="Bell MT" panose="02020503060305020303" pitchFamily="18" charset="0"/>
              </a:rPr>
            </a:br>
            <a:r>
              <a:rPr lang="en-US" sz="2400" dirty="0">
                <a:latin typeface="Bell MT" panose="02020503060305020303" pitchFamily="18" charset="0"/>
              </a:rPr>
              <a:t>But through these challenges, I learned how to use tools like Tableau, Power BI, and Excel more effectively.</a:t>
            </a:r>
            <a:br>
              <a:rPr lang="en-US" sz="2400" dirty="0">
                <a:latin typeface="Bell MT" panose="02020503060305020303" pitchFamily="18" charset="0"/>
              </a:rPr>
            </a:br>
            <a:r>
              <a:rPr lang="en-US" sz="2400" dirty="0">
                <a:latin typeface="Bell MT" panose="02020503060305020303" pitchFamily="18" charset="0"/>
              </a:rPr>
              <a:t>In the end, I was able to create a dashboard that gives a clear view of sales performance, customer behavior, and key business trends. This project really improved my data analysis and visualization skills, and helped me learn how to turn data into meaningful insights.</a:t>
            </a:r>
            <a:endParaRPr lang="en-IN" sz="2400" dirty="0">
              <a:latin typeface="Bell MT" panose="02020503060305020303" pitchFamily="18" charset="0"/>
            </a:endParaRPr>
          </a:p>
        </p:txBody>
      </p:sp>
    </p:spTree>
    <p:extLst>
      <p:ext uri="{BB962C8B-B14F-4D97-AF65-F5344CB8AC3E}">
        <p14:creationId xmlns:p14="http://schemas.microsoft.com/office/powerpoint/2010/main" val="1577581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AD7B88FF-DC30-C0A4-40F1-3F4CF6C0D3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6965F8-1526-E66D-54E5-948EA83E510C}"/>
              </a:ext>
            </a:extLst>
          </p:cNvPr>
          <p:cNvSpPr txBox="1"/>
          <p:nvPr/>
        </p:nvSpPr>
        <p:spPr>
          <a:xfrm>
            <a:off x="3870960" y="0"/>
            <a:ext cx="7945120" cy="707886"/>
          </a:xfrm>
          <a:prstGeom prst="rect">
            <a:avLst/>
          </a:prstGeom>
          <a:noFill/>
        </p:spPr>
        <p:txBody>
          <a:bodyPr wrap="square" rtlCol="0">
            <a:spAutoFit/>
          </a:bodyPr>
          <a:lstStyle/>
          <a:p>
            <a:r>
              <a:rPr lang="en-IN" sz="4000" dirty="0">
                <a:solidFill>
                  <a:srgbClr val="7030A0"/>
                </a:solidFill>
                <a:latin typeface="Algerian" panose="04020705040A02060702" pitchFamily="82" charset="0"/>
              </a:rPr>
              <a:t>CHALLENGES FACES</a:t>
            </a:r>
          </a:p>
        </p:txBody>
      </p:sp>
      <p:sp>
        <p:nvSpPr>
          <p:cNvPr id="3" name="TextBox 2">
            <a:extLst>
              <a:ext uri="{FF2B5EF4-FFF2-40B4-BE49-F238E27FC236}">
                <a16:creationId xmlns:a16="http://schemas.microsoft.com/office/drawing/2014/main" id="{98F03E0D-1F15-E751-4316-EF6DB4E81026}"/>
              </a:ext>
            </a:extLst>
          </p:cNvPr>
          <p:cNvSpPr txBox="1"/>
          <p:nvPr/>
        </p:nvSpPr>
        <p:spPr>
          <a:xfrm>
            <a:off x="2418736" y="698091"/>
            <a:ext cx="9556954" cy="1200329"/>
          </a:xfrm>
          <a:prstGeom prst="rect">
            <a:avLst/>
          </a:prstGeom>
          <a:noFill/>
        </p:spPr>
        <p:txBody>
          <a:bodyPr wrap="square" rtlCol="0">
            <a:spAutoFit/>
          </a:bodyPr>
          <a:lstStyle/>
          <a:p>
            <a:pPr marL="285750" indent="-285750">
              <a:buFont typeface="Wingdings" panose="05000000000000000000" pitchFamily="2" charset="2"/>
              <a:buChar char="v"/>
            </a:pPr>
            <a:r>
              <a:rPr lang="en-US" b="1" dirty="0"/>
              <a:t>Data Collection &amp; Cleaning</a:t>
            </a:r>
          </a:p>
          <a:p>
            <a:pPr marL="285750" indent="-285750">
              <a:buFont typeface="Wingdings" panose="05000000000000000000" pitchFamily="2" charset="2"/>
              <a:buChar char="Ø"/>
            </a:pPr>
            <a:r>
              <a:rPr lang="en-US" dirty="0"/>
              <a:t>Raw data from multiple sources (orders, payments, reviews) was inconsistent and incomplete.</a:t>
            </a:r>
          </a:p>
          <a:p>
            <a:r>
              <a:rPr lang="en-US" b="1" dirty="0"/>
              <a:t>      Example:</a:t>
            </a:r>
            <a:r>
              <a:rPr lang="en-US" dirty="0"/>
              <a:t> Missing order dates, duplicate entries, or mismatched customer IDs.</a:t>
            </a:r>
          </a:p>
          <a:p>
            <a:endParaRPr lang="en-IN" dirty="0"/>
          </a:p>
        </p:txBody>
      </p:sp>
      <p:sp>
        <p:nvSpPr>
          <p:cNvPr id="4" name="TextBox 3">
            <a:extLst>
              <a:ext uri="{FF2B5EF4-FFF2-40B4-BE49-F238E27FC236}">
                <a16:creationId xmlns:a16="http://schemas.microsoft.com/office/drawing/2014/main" id="{54C6F695-AB4C-FF9C-050A-39C4E2319149}"/>
              </a:ext>
            </a:extLst>
          </p:cNvPr>
          <p:cNvSpPr txBox="1"/>
          <p:nvPr/>
        </p:nvSpPr>
        <p:spPr>
          <a:xfrm>
            <a:off x="2428568" y="1612491"/>
            <a:ext cx="9104671" cy="1200329"/>
          </a:xfrm>
          <a:prstGeom prst="rect">
            <a:avLst/>
          </a:prstGeom>
          <a:noFill/>
        </p:spPr>
        <p:txBody>
          <a:bodyPr wrap="square" rtlCol="0">
            <a:spAutoFit/>
          </a:bodyPr>
          <a:lstStyle/>
          <a:p>
            <a:pPr marL="285750" indent="-285750">
              <a:buFont typeface="Wingdings" panose="05000000000000000000" pitchFamily="2" charset="2"/>
              <a:buChar char="v"/>
            </a:pPr>
            <a:r>
              <a:rPr lang="en-US" b="1" dirty="0"/>
              <a:t>Data Transformation</a:t>
            </a:r>
          </a:p>
          <a:p>
            <a:pPr marL="285750" indent="-285750">
              <a:buFont typeface="Wingdings" panose="05000000000000000000" pitchFamily="2" charset="2"/>
              <a:buChar char="Ø"/>
            </a:pPr>
            <a:r>
              <a:rPr lang="en-US" dirty="0"/>
              <a:t>Different date and currency formats caused issues in analysis.</a:t>
            </a:r>
          </a:p>
          <a:p>
            <a:r>
              <a:rPr lang="en-US" b="1" dirty="0"/>
              <a:t>      Example:</a:t>
            </a:r>
            <a:r>
              <a:rPr lang="en-US" dirty="0"/>
              <a:t> Converting timestamps to standard date formats (like YYYY-MM-DD)</a:t>
            </a:r>
          </a:p>
          <a:p>
            <a:endParaRPr lang="en-IN" dirty="0"/>
          </a:p>
        </p:txBody>
      </p:sp>
      <p:sp>
        <p:nvSpPr>
          <p:cNvPr id="5" name="TextBox 4">
            <a:extLst>
              <a:ext uri="{FF2B5EF4-FFF2-40B4-BE49-F238E27FC236}">
                <a16:creationId xmlns:a16="http://schemas.microsoft.com/office/drawing/2014/main" id="{E75D5CB1-4099-470C-E415-1C5521E00A40}"/>
              </a:ext>
            </a:extLst>
          </p:cNvPr>
          <p:cNvSpPr txBox="1"/>
          <p:nvPr/>
        </p:nvSpPr>
        <p:spPr>
          <a:xfrm>
            <a:off x="2458064" y="2556388"/>
            <a:ext cx="8898194" cy="1200329"/>
          </a:xfrm>
          <a:prstGeom prst="rect">
            <a:avLst/>
          </a:prstGeom>
          <a:noFill/>
        </p:spPr>
        <p:txBody>
          <a:bodyPr wrap="square" rtlCol="0">
            <a:spAutoFit/>
          </a:bodyPr>
          <a:lstStyle/>
          <a:p>
            <a:pPr marL="285750" indent="-285750">
              <a:buFont typeface="Wingdings" panose="05000000000000000000" pitchFamily="2" charset="2"/>
              <a:buChar char="v"/>
            </a:pPr>
            <a:r>
              <a:rPr lang="en-US" b="1" dirty="0"/>
              <a:t>Data Transformation</a:t>
            </a:r>
          </a:p>
          <a:p>
            <a:pPr marL="285750" indent="-285750">
              <a:buFont typeface="Wingdings" panose="05000000000000000000" pitchFamily="2" charset="2"/>
              <a:buChar char="Ø"/>
            </a:pPr>
            <a:r>
              <a:rPr lang="en-US" b="1" dirty="0"/>
              <a:t>  </a:t>
            </a:r>
            <a:r>
              <a:rPr lang="en-US" dirty="0"/>
              <a:t>Different date and currency formats caused issues in analysis.</a:t>
            </a:r>
          </a:p>
          <a:p>
            <a:r>
              <a:rPr lang="en-US" b="1" dirty="0"/>
              <a:t>        Example:</a:t>
            </a:r>
            <a:r>
              <a:rPr lang="en-US" dirty="0"/>
              <a:t> Converting timestamps to standard date formats (like YYYY-MM-DD)</a:t>
            </a:r>
          </a:p>
          <a:p>
            <a:endParaRPr lang="en-IN" dirty="0"/>
          </a:p>
        </p:txBody>
      </p:sp>
      <p:sp>
        <p:nvSpPr>
          <p:cNvPr id="6" name="TextBox 5">
            <a:extLst>
              <a:ext uri="{FF2B5EF4-FFF2-40B4-BE49-F238E27FC236}">
                <a16:creationId xmlns:a16="http://schemas.microsoft.com/office/drawing/2014/main" id="{281C651A-59E7-9420-1456-14187F1EB599}"/>
              </a:ext>
            </a:extLst>
          </p:cNvPr>
          <p:cNvSpPr txBox="1"/>
          <p:nvPr/>
        </p:nvSpPr>
        <p:spPr>
          <a:xfrm>
            <a:off x="2438400" y="3529781"/>
            <a:ext cx="8888362" cy="1200329"/>
          </a:xfrm>
          <a:prstGeom prst="rect">
            <a:avLst/>
          </a:prstGeom>
          <a:noFill/>
        </p:spPr>
        <p:txBody>
          <a:bodyPr wrap="square" rtlCol="0">
            <a:spAutoFit/>
          </a:bodyPr>
          <a:lstStyle/>
          <a:p>
            <a:pPr marL="285750" indent="-285750">
              <a:buFont typeface="Wingdings" panose="05000000000000000000" pitchFamily="2" charset="2"/>
              <a:buChar char="v"/>
            </a:pPr>
            <a:r>
              <a:rPr lang="en-US" b="1" dirty="0"/>
              <a:t>Visualization Design</a:t>
            </a:r>
          </a:p>
          <a:p>
            <a:pPr marL="285750" indent="-285750">
              <a:buFont typeface="Wingdings" panose="05000000000000000000" pitchFamily="2" charset="2"/>
              <a:buChar char="Ø"/>
            </a:pPr>
            <a:r>
              <a:rPr lang="en-US" dirty="0"/>
              <a:t> Choosing the right charts for KPIs (Sales Trend, Top Categories, Payment Type, etc.).</a:t>
            </a:r>
          </a:p>
          <a:p>
            <a:r>
              <a:rPr lang="en-US" b="1" dirty="0"/>
              <a:t>       Example:</a:t>
            </a:r>
            <a:r>
              <a:rPr lang="en-US" dirty="0"/>
              <a:t> Too many visuals made the dashboard cluttered.</a:t>
            </a:r>
          </a:p>
          <a:p>
            <a:endParaRPr lang="en-IN" dirty="0"/>
          </a:p>
        </p:txBody>
      </p:sp>
      <p:sp>
        <p:nvSpPr>
          <p:cNvPr id="7" name="TextBox 6">
            <a:extLst>
              <a:ext uri="{FF2B5EF4-FFF2-40B4-BE49-F238E27FC236}">
                <a16:creationId xmlns:a16="http://schemas.microsoft.com/office/drawing/2014/main" id="{DE031D36-3368-9476-0100-48C52DF53212}"/>
              </a:ext>
            </a:extLst>
          </p:cNvPr>
          <p:cNvSpPr txBox="1"/>
          <p:nvPr/>
        </p:nvSpPr>
        <p:spPr>
          <a:xfrm>
            <a:off x="2487562" y="4503174"/>
            <a:ext cx="8396748" cy="923330"/>
          </a:xfrm>
          <a:prstGeom prst="rect">
            <a:avLst/>
          </a:prstGeom>
          <a:noFill/>
        </p:spPr>
        <p:txBody>
          <a:bodyPr wrap="square" rtlCol="0">
            <a:spAutoFit/>
          </a:bodyPr>
          <a:lstStyle/>
          <a:p>
            <a:pPr marL="285750" indent="-285750">
              <a:buFont typeface="Wingdings" panose="05000000000000000000" pitchFamily="2" charset="2"/>
              <a:buChar char="v"/>
            </a:pPr>
            <a:r>
              <a:rPr lang="en-US" b="1" dirty="0"/>
              <a:t>Performance Optimization</a:t>
            </a:r>
          </a:p>
          <a:p>
            <a:pPr marL="285750" indent="-285750">
              <a:buFont typeface="Wingdings" panose="05000000000000000000" pitchFamily="2" charset="2"/>
              <a:buChar char="Ø"/>
            </a:pPr>
            <a:r>
              <a:rPr lang="en-US" dirty="0"/>
              <a:t> Dashboard became slow due to large dataset.</a:t>
            </a:r>
          </a:p>
          <a:p>
            <a:endParaRPr lang="en-IN" dirty="0"/>
          </a:p>
        </p:txBody>
      </p:sp>
    </p:spTree>
    <p:extLst>
      <p:ext uri="{BB962C8B-B14F-4D97-AF65-F5344CB8AC3E}">
        <p14:creationId xmlns:p14="http://schemas.microsoft.com/office/powerpoint/2010/main" val="2691912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9C1638E4-7AA5-80B8-7C73-D6060CB6A3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C3EDBD-EB1E-A960-2814-EDA0CE1F7E06}"/>
              </a:ext>
            </a:extLst>
          </p:cNvPr>
          <p:cNvSpPr txBox="1"/>
          <p:nvPr/>
        </p:nvSpPr>
        <p:spPr>
          <a:xfrm rot="20599008">
            <a:off x="3992880" y="2204719"/>
            <a:ext cx="7945120" cy="1107996"/>
          </a:xfrm>
          <a:prstGeom prst="rect">
            <a:avLst/>
          </a:prstGeom>
          <a:noFill/>
        </p:spPr>
        <p:txBody>
          <a:bodyPr wrap="square" rtlCol="0">
            <a:spAutoFit/>
          </a:bodyPr>
          <a:lstStyle/>
          <a:p>
            <a:r>
              <a:rPr lang="en-IN" sz="6600" b="1" dirty="0">
                <a:solidFill>
                  <a:srgbClr val="7030A0"/>
                </a:solidFill>
                <a:latin typeface="Pristina" panose="03060402040406080204" pitchFamily="66" charset="0"/>
              </a:rPr>
              <a:t>THANK YOU…</a:t>
            </a:r>
          </a:p>
        </p:txBody>
      </p:sp>
    </p:spTree>
    <p:extLst>
      <p:ext uri="{BB962C8B-B14F-4D97-AF65-F5344CB8AC3E}">
        <p14:creationId xmlns:p14="http://schemas.microsoft.com/office/powerpoint/2010/main" val="2630282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631</Words>
  <Application>Microsoft Office PowerPoint</Application>
  <PresentationFormat>Widescreen</PresentationFormat>
  <Paragraphs>66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Algerian</vt:lpstr>
      <vt:lpstr>Arial</vt:lpstr>
      <vt:lpstr>Bell MT</vt:lpstr>
      <vt:lpstr>Calibri</vt:lpstr>
      <vt:lpstr>Calibri Light</vt:lpstr>
      <vt:lpstr>Pristina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kumar</dc:creator>
  <cp:lastModifiedBy>Deepak kumar</cp:lastModifiedBy>
  <cp:revision>3</cp:revision>
  <dcterms:created xsi:type="dcterms:W3CDTF">2025-10-02T22:09:38Z</dcterms:created>
  <dcterms:modified xsi:type="dcterms:W3CDTF">2025-10-05T11:11:30Z</dcterms:modified>
</cp:coreProperties>
</file>